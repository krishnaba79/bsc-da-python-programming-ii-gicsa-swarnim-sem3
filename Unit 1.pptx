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3" r:id="rId9"/>
    <p:sldId id="275" r:id="rId10"/>
    <p:sldId id="276" r:id="rId11"/>
    <p:sldId id="274" r:id="rId12"/>
    <p:sldId id="263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3" r:id="rId69"/>
    <p:sldId id="334" r:id="rId70"/>
    <p:sldId id="335" r:id="rId71"/>
    <p:sldId id="336" r:id="rId72"/>
    <p:sldId id="337" r:id="rId73"/>
    <p:sldId id="338" r:id="rId74"/>
    <p:sldId id="339" r:id="rId75"/>
    <p:sldId id="340" r:id="rId76"/>
    <p:sldId id="341" r:id="rId77"/>
    <p:sldId id="342" r:id="rId78"/>
    <p:sldId id="343" r:id="rId79"/>
    <p:sldId id="344" r:id="rId80"/>
    <p:sldId id="345" r:id="rId81"/>
    <p:sldId id="346" r:id="rId82"/>
    <p:sldId id="347" r:id="rId83"/>
    <p:sldId id="348" r:id="rId84"/>
    <p:sldId id="349" r:id="rId85"/>
    <p:sldId id="350" r:id="rId86"/>
    <p:sldId id="351" r:id="rId87"/>
    <p:sldId id="352" r:id="rId88"/>
    <p:sldId id="353" r:id="rId89"/>
    <p:sldId id="354" r:id="rId90"/>
    <p:sldId id="355" r:id="rId91"/>
    <p:sldId id="356" r:id="rId92"/>
    <p:sldId id="357" r:id="rId93"/>
    <p:sldId id="358" r:id="rId94"/>
    <p:sldId id="359" r:id="rId95"/>
    <p:sldId id="360" r:id="rId96"/>
    <p:sldId id="361" r:id="rId97"/>
    <p:sldId id="362" r:id="rId98"/>
    <p:sldId id="363" r:id="rId99"/>
    <p:sldId id="364" r:id="rId10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7940D-92A0-206C-F1A0-7444B3EB7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5DF95-132C-6E01-9021-ADD525777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41918-DC7E-8A98-1B82-3816483CD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48E1E-119A-4519-8EFB-FDD8877E46E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3FE7C-E9D7-EE9E-6660-476D8CFA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75FD4-A5F0-64C8-2052-79A1B804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40D5-92B4-433C-97DC-3BA57B5C1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735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5EFF-C4A0-CDB8-342B-10701B593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BF9A5-7DB0-978B-C4CB-715190FC0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386B9-991D-4FA1-9597-808BBC7F6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48E1E-119A-4519-8EFB-FDD8877E46E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E5C82-22FD-7A6B-DED2-72FED861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30B7F-D6C8-558E-9362-42DA16501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40D5-92B4-433C-97DC-3BA57B5C1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829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E96E6-932F-660F-0B13-4389D130F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A573F-8046-02F5-0065-9C77A5E17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4F4E2-0B3C-67EC-BB9F-A02C67D82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48E1E-119A-4519-8EFB-FDD8877E46E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93F71-25EC-A115-05B2-48163EC5B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BE466-2876-7165-8F20-529CAA7C1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40D5-92B4-433C-97DC-3BA57B5C1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818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5097F-F846-CC1F-D323-E33339029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512C4-ECA1-F5E7-9E3D-DC5D1C50D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8052B-D49C-8844-15B5-6D80EC274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8B6BD-DD59-03FA-7AED-C3E296F50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48E1E-119A-4519-8EFB-FDD8877E46E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ED9C4-B7D9-EC0B-8D73-3D8AF2BF3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66DC4-2CD5-18E9-E357-1701759F4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40D5-92B4-433C-97DC-3BA57B5C1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712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8DAC-99C8-516F-B55F-E9D10CDE6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F555C-2FF8-E99B-F30A-324E18CAE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6F461-83F2-8375-EB19-69A8E1B54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12D551-2C77-7E39-0EA8-75E7C7956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486764-D454-6C58-02D0-9475FFCEAE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8ADDD7-0C27-09B2-1AA1-8592DC88E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48E1E-119A-4519-8EFB-FDD8877E46E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B1D1A0-5135-B2E8-41AC-F81F5632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B973D0-70D8-2C1A-F22A-256FE60C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40D5-92B4-433C-97DC-3BA57B5C1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45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610EF-3D85-5D3B-A561-94ACB7688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061A97-768C-AEC4-7FEB-5856ABC6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48E1E-119A-4519-8EFB-FDD8877E46E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B80DB2-3671-462F-AA3C-C71DA498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B935B7-C3B6-CF5E-1EB4-BE83A5D1C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40D5-92B4-433C-97DC-3BA57B5C1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481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370EA9-C6CB-D1F4-561B-408A1FD6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48E1E-119A-4519-8EFB-FDD8877E46E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A9A98E-DEC8-E562-C117-3CEE3240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0C77E-9FAE-DA42-5406-277A5AAE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40D5-92B4-433C-97DC-3BA57B5C1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96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7B4EB-2410-45C2-4105-50E856FB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EC38B-716B-D153-1FE5-99934DA36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384754-494A-9463-F580-87B9C59FE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B2C98-ACCB-F2BC-760C-A50EBD188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48E1E-119A-4519-8EFB-FDD8877E46E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86696-58E1-A00B-A4DA-6D6507CB8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53218-D0CA-997E-65C8-D6A51D52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40D5-92B4-433C-97DC-3BA57B5C1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727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13D15-B140-803F-75C5-A8D590CA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E61B94-F7AE-077A-EBAB-85709A3442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77B3F-11DF-283B-3C68-D1260A37E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1FFC5-A3F4-5C9C-456E-CF565E74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48E1E-119A-4519-8EFB-FDD8877E46E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1CC9D-2F8E-EE94-4633-402A666D5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7F18A-0B92-13ED-2766-EB96B97EA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40D5-92B4-433C-97DC-3BA57B5C1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278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6F95B-E8A6-1EF7-FD3F-4DBE5C441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55E57-051C-C57F-88F7-1B008139E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DBD2C-247E-D9C7-9941-1768A332D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48E1E-119A-4519-8EFB-FDD8877E46E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B8CAA-2007-8514-8BF0-A01DCA056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FFEC7-B4C9-89CD-A4ED-93F082D61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40D5-92B4-433C-97DC-3BA57B5C1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616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EA27CF-B376-0526-9BB6-96BF4FF3D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ECDD8-D0F9-7C90-9E65-B8B555476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03493-85A8-C439-76C3-60D3B243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48E1E-119A-4519-8EFB-FDD8877E46E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566E8-9A5F-DB76-58F5-C9E8BE17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0812E-F2F4-121E-DF4F-8F9BB5D9C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40D5-92B4-433C-97DC-3BA57B5C1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52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E5607F-EED6-C106-E240-A70B3915F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08BC3-864A-16B1-62FE-56496AD74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15628-B7DD-1593-F62B-0F6FAC43E2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48E1E-119A-4519-8EFB-FDD8877E46E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76B07-DD88-0C28-2107-9EC43EC2B3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9892A-2EF3-D715-62E6-1DF397893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040D5-92B4-433C-97DC-3BA57B5C1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74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178F-047F-8BFA-6F93-8D617E7B1B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Introduction to NumPy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93887-7C66-8EA4-86BD-BF51C0A0EC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 1</a:t>
            </a:r>
          </a:p>
        </p:txBody>
      </p:sp>
    </p:spTree>
    <p:extLst>
      <p:ext uri="{BB962C8B-B14F-4D97-AF65-F5344CB8AC3E}">
        <p14:creationId xmlns:p14="http://schemas.microsoft.com/office/powerpoint/2010/main" val="13930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A7DD-2795-8293-7C3D-49EC59733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NumPy?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5355B-4DF1-3974-1B2F-D064B540E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NumPy (Numerical Python)</a:t>
            </a:r>
            <a:r>
              <a:rPr lang="en-IN" dirty="0"/>
              <a:t> is an open-source Python library used for performing numerical and mathematical computations efficiently. It provides a powerful </a:t>
            </a:r>
            <a:r>
              <a:rPr lang="en-IN" b="1" dirty="0"/>
              <a:t>N-dimensional array object</a:t>
            </a:r>
            <a:r>
              <a:rPr lang="en-IN" dirty="0"/>
              <a:t> along with functions to perform operations such as mathematical calculations, statistical analysis, linear algebra, random number generation, and matrix operations.</a:t>
            </a:r>
          </a:p>
          <a:p>
            <a:r>
              <a:rPr lang="en-IN" dirty="0"/>
              <a:t>NumPy was developed by </a:t>
            </a:r>
            <a:r>
              <a:rPr lang="en-IN" b="1" dirty="0"/>
              <a:t>Travis Oliphant</a:t>
            </a:r>
            <a:r>
              <a:rPr lang="en-IN" dirty="0"/>
              <a:t> in </a:t>
            </a:r>
            <a:r>
              <a:rPr lang="en-IN" b="1" dirty="0"/>
              <a:t>2005</a:t>
            </a:r>
            <a:r>
              <a:rPr lang="en-IN" dirty="0"/>
              <a:t> and is one of the most important libraries in Python for scientific computing.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472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B9CD5-131A-6A70-0F71-B3792BA0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Do We Need NumPy?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2C8DB-9E0E-8820-A3C7-79A988144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lists are useful for storing data, but they become slow and consume more memory when working with large numerical datasets.</a:t>
            </a:r>
          </a:p>
          <a:p>
            <a:r>
              <a:rPr lang="en-IN" dirty="0"/>
              <a:t>NumPy solves these problems by providing:</a:t>
            </a:r>
          </a:p>
          <a:p>
            <a:r>
              <a:rPr lang="en-IN" dirty="0"/>
              <a:t>Faster execution </a:t>
            </a:r>
          </a:p>
          <a:p>
            <a:r>
              <a:rPr lang="en-IN" dirty="0"/>
              <a:t>Less memory usage </a:t>
            </a:r>
          </a:p>
          <a:p>
            <a:r>
              <a:rPr lang="en-IN" dirty="0"/>
              <a:t>Efficient mathematical operations </a:t>
            </a:r>
          </a:p>
          <a:p>
            <a:r>
              <a:rPr lang="en-IN" dirty="0"/>
              <a:t>Multi-dimensional arrays </a:t>
            </a:r>
          </a:p>
          <a:p>
            <a:r>
              <a:rPr lang="en-IN" dirty="0"/>
              <a:t>Vectorized computations (operations without loops)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7412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DEF6E-196B-9486-17A0-E29F5D45A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DE522-F253-3527-5F8B-302D8A543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NumPy is widely used in:</a:t>
            </a:r>
          </a:p>
          <a:p>
            <a:r>
              <a:rPr lang="en-IN" dirty="0"/>
              <a:t>Data Science </a:t>
            </a:r>
          </a:p>
          <a:p>
            <a:r>
              <a:rPr lang="en-IN" dirty="0"/>
              <a:t>Machine Learning </a:t>
            </a:r>
          </a:p>
          <a:p>
            <a:r>
              <a:rPr lang="en-IN" dirty="0"/>
              <a:t>Artificial Intelligence </a:t>
            </a:r>
          </a:p>
          <a:p>
            <a:r>
              <a:rPr lang="en-IN" dirty="0"/>
              <a:t>Scientific Research </a:t>
            </a:r>
          </a:p>
          <a:p>
            <a:r>
              <a:rPr lang="en-IN" dirty="0"/>
              <a:t>Image Processing </a:t>
            </a:r>
          </a:p>
          <a:p>
            <a:r>
              <a:rPr lang="en-IN" dirty="0"/>
              <a:t>Computer Vision </a:t>
            </a:r>
          </a:p>
          <a:p>
            <a:r>
              <a:rPr lang="en-IN" dirty="0"/>
              <a:t>Financial Analysis </a:t>
            </a:r>
          </a:p>
          <a:p>
            <a:r>
              <a:rPr lang="en-IN" dirty="0"/>
              <a:t>Statistics </a:t>
            </a:r>
          </a:p>
          <a:p>
            <a:r>
              <a:rPr lang="en-IN" dirty="0"/>
              <a:t>Robotics </a:t>
            </a:r>
          </a:p>
          <a:p>
            <a:r>
              <a:rPr lang="en-IN" dirty="0"/>
              <a:t>Engineering Simulations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2614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6861-B9CC-CAB9-8B13-D3167884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23AA3-B7CD-0F31-6A11-667CA0D51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Supports multi-dimensional arrays. </a:t>
            </a:r>
          </a:p>
          <a:p>
            <a:r>
              <a:rPr lang="en-IN" dirty="0"/>
              <a:t>High-speed mathematical operations. </a:t>
            </a:r>
          </a:p>
          <a:p>
            <a:r>
              <a:rPr lang="en-IN" dirty="0"/>
              <a:t>Efficient memory management. </a:t>
            </a:r>
          </a:p>
          <a:p>
            <a:r>
              <a:rPr lang="en-IN" dirty="0"/>
              <a:t>Supports matrix computations.</a:t>
            </a:r>
          </a:p>
          <a:p>
            <a:r>
              <a:rPr lang="en-IN" dirty="0"/>
              <a:t>Large collection of mathematical functions. </a:t>
            </a:r>
          </a:p>
          <a:p>
            <a:r>
              <a:rPr lang="en-IN" dirty="0"/>
              <a:t>Random number generation. </a:t>
            </a:r>
          </a:p>
          <a:p>
            <a:r>
              <a:rPr lang="en-IN" dirty="0"/>
              <a:t>Compatible with Pandas, Matplotlib, SciPy, TensorFlow, etc.</a:t>
            </a:r>
          </a:p>
        </p:txBody>
      </p:sp>
    </p:spTree>
    <p:extLst>
      <p:ext uri="{BB962C8B-B14F-4D97-AF65-F5344CB8AC3E}">
        <p14:creationId xmlns:p14="http://schemas.microsoft.com/office/powerpoint/2010/main" val="713133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BE6C8-2F51-2A06-3735-CE45E7718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NumPy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9EA0C0-3B22-D2C4-C032-D6C370D34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698155"/>
              </p:ext>
            </p:extLst>
          </p:nvPr>
        </p:nvGraphicFramePr>
        <p:xfrm>
          <a:off x="765464" y="1943894"/>
          <a:ext cx="10515600" cy="384384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04575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11794907"/>
                    </a:ext>
                  </a:extLst>
                </a:gridCol>
              </a:tblGrid>
              <a:tr h="768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NumPy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4107395"/>
                  </a:ext>
                </a:extLst>
              </a:tr>
              <a:tr h="768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439376"/>
                  </a:ext>
                </a:extLst>
              </a:tr>
              <a:tr h="768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7103591"/>
                  </a:ext>
                </a:extLst>
              </a:tr>
              <a:tr h="768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 mathematical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Easy mathematical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5397275"/>
                  </a:ext>
                </a:extLst>
              </a:tr>
              <a:tr h="768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functionality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Rich scientific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0086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941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EE9DD-BC42-4914-E26F-ABDF0BAFC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97E1F1-AB70-7F21-E498-E2B39DB9D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746" y="1331313"/>
            <a:ext cx="9642764" cy="542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689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851E2-0E82-6587-C8A4-D009F6273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A83C-2C97-E795-EAEA-5F78EB2E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9C18D-DDEE-1489-7E11-CEBBE24FC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91" y="1292341"/>
            <a:ext cx="9902536" cy="556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76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61936-6DE4-D19F-1E0C-13C7F5E61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C348-6C72-452C-3214-BEB98CA81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08A33A-0CC0-996D-0D05-26751D177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54" y="1311479"/>
            <a:ext cx="9549245" cy="536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844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438F6-1EEE-C848-D072-78A5CF6F7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37D58-96F7-D0E1-D69E-BEACAB274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99A0D3-BEBE-1874-55D4-849972C96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91" y="1292341"/>
            <a:ext cx="9902536" cy="556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23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7B34-740E-2595-D1E1-FFFD1163B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Checking NumPy Version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6EAE6A-F33B-B3D4-7153-7D8F43388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1251865"/>
            <a:ext cx="9840191" cy="553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848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7770-7F0B-4CA0-92EC-5140ECEF6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Importing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FF520-EE75-3CCD-CB13-4AB93E55A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r>
              <a:rPr lang="en-IN" b="1" dirty="0"/>
              <a:t>Why use np?</a:t>
            </a:r>
          </a:p>
          <a:p>
            <a:r>
              <a:rPr lang="en-IN" dirty="0"/>
              <a:t>Instead of writing</a:t>
            </a:r>
          </a:p>
          <a:p>
            <a:r>
              <a:rPr lang="en-IN" dirty="0" err="1"/>
              <a:t>numpy.array</a:t>
            </a:r>
            <a:r>
              <a:rPr lang="en-IN" dirty="0"/>
              <a:t>()</a:t>
            </a:r>
          </a:p>
          <a:p>
            <a:r>
              <a:rPr lang="en-IN" dirty="0"/>
              <a:t>we simply write</a:t>
            </a:r>
          </a:p>
          <a:p>
            <a:r>
              <a:rPr lang="en-IN" dirty="0" err="1"/>
              <a:t>np.array</a:t>
            </a:r>
            <a:r>
              <a:rPr lang="en-IN" dirty="0"/>
              <a:t>()</a:t>
            </a:r>
          </a:p>
          <a:p>
            <a:r>
              <a:rPr lang="en-IN" dirty="0"/>
              <a:t>This is the standard convention used worldwide.</a:t>
            </a:r>
          </a:p>
          <a:p>
            <a:r>
              <a:rPr lang="en-IN" dirty="0"/>
              <a:t>https://colab.research.google.com/drive/1YjiurtIhdNsDW45S2P6HaiLEX74yeAFa#scrollTo=5EHW7GCUNiOr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2681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ECBFF-9D41-63A7-956F-562552171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92BA1-2EA6-26EF-FEF2-B4ADD7FB0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Definition</a:t>
            </a:r>
          </a:p>
          <a:p>
            <a:r>
              <a:rPr lang="en-IN" dirty="0"/>
              <a:t>A </a:t>
            </a:r>
            <a:r>
              <a:rPr lang="en-IN" b="1" dirty="0"/>
              <a:t>NumPy array</a:t>
            </a:r>
            <a:r>
              <a:rPr lang="en-IN" dirty="0"/>
              <a:t> is a collection of elements of the </a:t>
            </a:r>
            <a:r>
              <a:rPr lang="en-IN" b="1" dirty="0"/>
              <a:t>same data type</a:t>
            </a:r>
            <a:r>
              <a:rPr lang="en-IN" dirty="0"/>
              <a:t>, stored in contiguous memory locations.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260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552B2-745B-6350-2CDC-A519BE174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50B1-58FE-C1FF-8881-DC3696506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One-Dimensional Array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79BEF4-9379-558A-3282-07019F7DE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46" y="2062521"/>
            <a:ext cx="7638826" cy="393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03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0D2EC-5367-9EB4-814D-13FC538DD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29FAF-2199-BAEB-7088-915B196A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Two-Dimensional Array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68091A-325D-E9DE-A8D6-E04805F34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257" y="1690688"/>
            <a:ext cx="7255417" cy="478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568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43DDF-FB66-9869-55A4-104B04F93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93EF-AF9A-86DB-7A61-1EC2ED5F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Three-Dimensional Array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9074CA-5134-5210-F67B-F5CED0C5C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431" y="1568445"/>
            <a:ext cx="6992214" cy="492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18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19628-F704-4DA5-32A1-909A27E53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Array Creation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966F5-B284-65D5-8E89-A23105454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zeros()</a:t>
            </a:r>
          </a:p>
          <a:p>
            <a:r>
              <a:rPr lang="en-IN" b="1" dirty="0"/>
              <a:t>Definition</a:t>
            </a:r>
          </a:p>
          <a:p>
            <a:r>
              <a:rPr lang="en-IN" dirty="0"/>
              <a:t>Creates an array filled with zeros.</a:t>
            </a:r>
          </a:p>
          <a:p>
            <a:r>
              <a:rPr lang="en-IN" dirty="0"/>
              <a:t>Syntax</a:t>
            </a:r>
          </a:p>
          <a:p>
            <a:r>
              <a:rPr lang="en-IN" dirty="0" err="1"/>
              <a:t>np.zeros</a:t>
            </a:r>
            <a:r>
              <a:rPr lang="en-IN" dirty="0"/>
              <a:t>(shape)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EEA79B-E239-AB99-5F3B-5DCED8C19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407" y="1977283"/>
            <a:ext cx="5458090" cy="356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88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26748-46AA-7104-847D-CF6AEF85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8B6B-B3C0-4B59-4423-5928C1FBF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Array Creation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963AB-1757-FB60-BC5D-63A9C5808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2. ones()</a:t>
            </a:r>
          </a:p>
          <a:p>
            <a:r>
              <a:rPr lang="en-IN" b="1" dirty="0"/>
              <a:t>Definition</a:t>
            </a:r>
          </a:p>
          <a:p>
            <a:r>
              <a:rPr lang="en-IN" dirty="0"/>
              <a:t>Creates an array where every element is 1.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ADCF40-2E02-9274-2C3B-2C63399E6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44093"/>
            <a:ext cx="6351224" cy="294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208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DFCA3-B45A-3759-3B64-81CBE3DA0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89E6-F711-9427-2687-7FAD1EA28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Array Creation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63CE0-F8FA-3826-B971-CB20E59D9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3. empty()</a:t>
            </a:r>
          </a:p>
          <a:p>
            <a:r>
              <a:rPr lang="en-IN" b="1" dirty="0"/>
              <a:t>Definition</a:t>
            </a:r>
          </a:p>
          <a:p>
            <a:r>
              <a:rPr lang="en-IN" dirty="0"/>
              <a:t>Creates an array without initializing its values.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C8BDE7-A444-2913-FFFD-32D3D0039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81692"/>
            <a:ext cx="8410146" cy="283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357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1ACE8-328F-7D33-D51D-E779373C1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8C75-E46B-3B87-C948-B911F76F1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Array Creation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2C5B3-B68E-299E-33CE-54361C1EF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4. </a:t>
            </a:r>
            <a:r>
              <a:rPr lang="en-IN" b="1" dirty="0" err="1"/>
              <a:t>arange</a:t>
            </a:r>
            <a:r>
              <a:rPr lang="en-IN" b="1" dirty="0"/>
              <a:t>()</a:t>
            </a:r>
          </a:p>
          <a:p>
            <a:r>
              <a:rPr lang="en-IN" b="1" dirty="0"/>
              <a:t>Definition</a:t>
            </a:r>
          </a:p>
          <a:p>
            <a:r>
              <a:rPr lang="en-IN" dirty="0"/>
              <a:t>Creates equally spaced values within a range.</a:t>
            </a:r>
          </a:p>
          <a:p>
            <a:r>
              <a:rPr lang="en-IN" dirty="0"/>
              <a:t>Syntax</a:t>
            </a:r>
          </a:p>
          <a:p>
            <a:r>
              <a:rPr lang="en-IN" dirty="0" err="1"/>
              <a:t>np.arange</a:t>
            </a:r>
            <a:r>
              <a:rPr lang="en-IN" dirty="0"/>
              <a:t>(start, stop, step)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0D6E32-64AF-8F02-58B8-411C76392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008" y="3654528"/>
            <a:ext cx="6577876" cy="26552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1E5F76-8B37-C369-091D-3977351B0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16" y="4613164"/>
            <a:ext cx="4343185" cy="187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347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EC157-63C2-10DC-E606-E3D2CB1E1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108CC-2181-9048-4E19-AE0440865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Array Creation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962EB-8EA4-7CD2-205D-6FF7AD920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5. </a:t>
            </a:r>
            <a:r>
              <a:rPr lang="en-IN" b="1" dirty="0" err="1"/>
              <a:t>linspace</a:t>
            </a:r>
            <a:r>
              <a:rPr lang="en-IN" b="1" dirty="0"/>
              <a:t>()</a:t>
            </a:r>
          </a:p>
          <a:p>
            <a:r>
              <a:rPr lang="en-IN" b="1" dirty="0"/>
              <a:t>Definition</a:t>
            </a:r>
          </a:p>
          <a:p>
            <a:r>
              <a:rPr lang="en-IN" dirty="0"/>
              <a:t>Creates equally spaced numbers between two values.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1C26BA-282F-1C87-9C6B-E6312069E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6649967" cy="296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2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ACB0-7335-7046-14FF-796C659BD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0D30-7468-DFF2-8D84-F02027C5E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Array Creation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270E6-08CF-0348-47C5-8744B5537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6. identity()</a:t>
            </a:r>
          </a:p>
          <a:p>
            <a:r>
              <a:rPr lang="en-IN" dirty="0"/>
              <a:t>Creates an identity matrix.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F5AC01-E48F-6BE7-CE72-B98F78FCD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728" y="1690688"/>
            <a:ext cx="6399238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61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BB158-9052-EEE4-9D97-50278C1B4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90D3-1386-0766-D8B2-F47739E29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Attributes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52E21D-D046-A3CA-4C6D-FE0345841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597" y="1495521"/>
            <a:ext cx="6599030" cy="461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574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C894-0459-41D4-A393-BF327B1B3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ndim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32C59-1143-0B12-C950-361E72757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Number of dimensions.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B2623-C07A-75E4-7EB3-D61ADE611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751" y="2024139"/>
            <a:ext cx="6484049" cy="446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241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3B980-8688-DCC9-F351-6E11ED916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42A6C-FC7B-31D5-35D4-E8AA15391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Rows and columns.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D078E6-4E96-1A0B-3484-F9F87E96F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20280"/>
            <a:ext cx="6136288" cy="407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15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5587F-EDC1-5C9E-047E-59F5205EE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92B97-EA72-2FD5-6D23-1CF53DE2E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Total elements.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4E459-70C2-6FF4-61EA-53E0976E6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75267"/>
            <a:ext cx="5572991" cy="432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392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80CE-6DCE-BD3B-86C6-D9351E5A5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dtype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6090E-8AF4-7F4E-4536-F706CD6F4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type.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3A8B02-682F-DE37-8F01-A4AE7A203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310" y="963326"/>
            <a:ext cx="6764481" cy="552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28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E4938-81D4-14BF-6E08-78718DEAD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itemsize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347E6-22C7-301F-FFF4-7CDA36FC4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Size occupied by one element.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D7E62-0FCE-1451-6D59-00159C47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863" y="2523671"/>
            <a:ext cx="4565881" cy="396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672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B3725-D2E7-05BD-D98B-8C1BDE5F1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B405D-FB88-1B5D-F6B6-D82484B07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Definition</a:t>
            </a:r>
          </a:p>
          <a:p>
            <a:r>
              <a:rPr lang="en-IN" dirty="0"/>
              <a:t>Indexing is the process of accessing individual elements of an array using their index positions.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331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C9E51-5227-68C5-87E1-0482B8853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1015F-DEBF-75FE-2A3A-D4EB5F409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E2659-D1D8-0BAB-13B8-4896E9F39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One-Dimensional Indexing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70344-17F5-15A4-8BD8-1CCF4E771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407831"/>
            <a:ext cx="9137073" cy="400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471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AE71A-6006-C882-85DD-93CD015A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94AE7-7EFB-7B1A-C412-ACFB8918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19CFB-2742-5E3A-2EC0-E6BBAF1FB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Two-Dimensional Indexing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AB9F90-4E72-BB53-7DE4-201B5D488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405" y="1952682"/>
            <a:ext cx="6155722" cy="454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91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76EA-9336-62B0-16C7-75C9E8679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277E2-782B-B761-BC94-D98081CC4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Array slicing in </a:t>
            </a:r>
            <a:r>
              <a:rPr lang="en-IN" b="1" dirty="0"/>
              <a:t>NumPy</a:t>
            </a:r>
            <a:r>
              <a:rPr lang="en-IN" dirty="0"/>
              <a:t> is used to access a portion of an array without modifying the original data. It is similar to Python list slicing but works for multidimensional arrays as well.</a:t>
            </a:r>
          </a:p>
          <a:p>
            <a:r>
              <a:rPr lang="en-IN" b="1" dirty="0"/>
              <a:t>Syntax</a:t>
            </a:r>
          </a:p>
          <a:p>
            <a:r>
              <a:rPr lang="en-IN" dirty="0"/>
              <a:t>array[</a:t>
            </a:r>
            <a:r>
              <a:rPr lang="en-IN" dirty="0" err="1"/>
              <a:t>start:stop:step</a:t>
            </a:r>
            <a:r>
              <a:rPr lang="en-IN" dirty="0"/>
              <a:t>]</a:t>
            </a:r>
          </a:p>
          <a:p>
            <a:r>
              <a:rPr lang="en-IN" b="1" dirty="0"/>
              <a:t>start</a:t>
            </a:r>
            <a:r>
              <a:rPr lang="en-IN" dirty="0"/>
              <a:t>: Index where slicing begins (default = 0) </a:t>
            </a:r>
          </a:p>
          <a:p>
            <a:r>
              <a:rPr lang="en-IN" b="1" dirty="0"/>
              <a:t>stop</a:t>
            </a:r>
            <a:r>
              <a:rPr lang="en-IN" dirty="0"/>
              <a:t>: Index where slicing ends (not included) </a:t>
            </a:r>
          </a:p>
          <a:p>
            <a:r>
              <a:rPr lang="en-IN" b="1" dirty="0"/>
              <a:t>step</a:t>
            </a:r>
            <a:r>
              <a:rPr lang="en-IN" dirty="0"/>
              <a:t>: Interval between elements (default = 1)</a:t>
            </a:r>
          </a:p>
        </p:txBody>
      </p:sp>
    </p:spTree>
    <p:extLst>
      <p:ext uri="{BB962C8B-B14F-4D97-AF65-F5344CB8AC3E}">
        <p14:creationId xmlns:p14="http://schemas.microsoft.com/office/powerpoint/2010/main" val="3827868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FB9A-8ECD-8A5A-1D54-5FBFA64B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BEAEE-5249-C962-4EC9-C198D3E82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 1: 1D Array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A825DA-7B79-039F-9FBD-F742D0085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825" y="1904178"/>
            <a:ext cx="7058633" cy="458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431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3A877-06D5-5347-F2FB-1496E7F3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B1F66-8996-3490-F772-AD1213F02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14344-6A20-9C57-0B6B-524DF0870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 2: 2D Array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04F35C-BD19-3A5B-3208-1B7F61532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039" y="1455624"/>
            <a:ext cx="7667333" cy="525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857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1373-A926-9564-A408-352D40079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BBB89-D66C-F112-517D-E2603162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F6BF3-1AC9-E857-A690-2619ABBED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 3: 3D Array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CEB4A0-2F6E-E1E1-97B2-EDC5E21B9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93" y="2710220"/>
            <a:ext cx="5309207" cy="34667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F3EB48-64F5-15E1-E1B7-93522ED79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307" y="568162"/>
            <a:ext cx="3409020" cy="592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8801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04BA6-5D8F-9BD6-D14F-FA8C6C415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23B0B-D62A-8153-2D3C-603468BD9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Important Points</a:t>
            </a:r>
          </a:p>
          <a:p>
            <a:r>
              <a:rPr lang="en-IN" dirty="0"/>
              <a:t>Slicing returns a </a:t>
            </a:r>
            <a:r>
              <a:rPr lang="en-IN" b="1" dirty="0"/>
              <a:t>view</a:t>
            </a:r>
            <a:r>
              <a:rPr lang="en-IN" dirty="0"/>
              <a:t> of the original array, not a copy. </a:t>
            </a:r>
          </a:p>
          <a:p>
            <a:r>
              <a:rPr lang="en-IN" dirty="0"/>
              <a:t>Changes made to the sliced array may affect the original array.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8F0F88-21B3-4255-C205-5559F36F0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90" y="3477587"/>
            <a:ext cx="5784428" cy="301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9892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D8AEB-BFAD-13CB-5FC3-D1366F5B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768C8-F967-95CF-B6F6-3539B2BD6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07513-F3C9-F622-3EBB-CAA8960A3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Array operations are the biggest advantage of NumPy over Python lists. Instead of using loops, NumPy performs operations on entire arrays at once, making the code shorter and much faster.</a:t>
            </a:r>
          </a:p>
          <a:p>
            <a:r>
              <a:rPr lang="en-IN" dirty="0"/>
              <a:t>We'll learn this topic step by step.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16654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026C6-1D93-CA40-F430-B9DF94F4E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9537E-CF0F-59CE-07CC-83FE0259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B6909-5BB0-43ED-0F6E-08A1377E5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Arithmetic Operations</a:t>
            </a:r>
          </a:p>
          <a:p>
            <a:r>
              <a:rPr lang="en-IN" dirty="0"/>
              <a:t>Arithmetic operations are performed </a:t>
            </a:r>
            <a:r>
              <a:rPr lang="en-IN" b="1" dirty="0"/>
              <a:t>element-wise</a:t>
            </a:r>
            <a:r>
              <a:rPr lang="en-IN" dirty="0"/>
              <a:t>, meaning the operation is applied to each corresponding element.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D7184B-306A-7F0A-12A5-10BE8ECB8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21" y="3492267"/>
            <a:ext cx="5324088" cy="300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380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171AB-5677-4676-1A23-B9F12F7C2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D137D-0B75-6012-A75B-FE744C97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AB951-DFE4-B290-F05E-3113D9BE5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Subtraction (-)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D7B211-B33B-CCC6-BF32-E5DFF99E8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205" y="1825625"/>
            <a:ext cx="6549195" cy="487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6054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777C2-661D-0E30-377A-E0F0F3D0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DE7ED-D6B4-06D0-D8DD-0C6D43AB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8FE6B-4561-B94B-ACC9-BF8CF34A8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Multiplication (*)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F194EE-EB7A-6C89-29FF-456508632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10" y="1551217"/>
            <a:ext cx="4673271" cy="512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4700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92F1-C046-9032-14D3-D9EAAD5F1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1A238-EE35-B79D-ADB6-57BA97F85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6223C-D3B9-76B6-5E54-ED71032C3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Division (/)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703ED6-20FE-588F-2C0B-EE5892C1D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705" y="1555606"/>
            <a:ext cx="4851686" cy="512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215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D5494-1A1C-AB82-FE73-51EA919FB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2DF43-8E5E-C199-8A79-B00F9231E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83C85-3635-7E1B-1358-5B23F0B1A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Floor Division (//)</a:t>
            </a:r>
          </a:p>
          <a:p>
            <a:r>
              <a:rPr lang="en-IN" dirty="0"/>
              <a:t>Floor division removes the decimal part.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188424-A562-2608-15BD-913CC9CF3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817" y="681037"/>
            <a:ext cx="3819146" cy="56301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7B8A0F-0D87-AB63-356E-E3CEA9A47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030" y="4735161"/>
            <a:ext cx="3833192" cy="10059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1A9AA0-1684-E8C1-BDE5-6B334A22F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030" y="3169228"/>
            <a:ext cx="3833192" cy="97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694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2FD83-79F7-A6BB-104C-5AA6DD327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3B54-710F-7C08-54B8-C8F599EF1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D060F-FCC2-AC49-023E-CB1A5714D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Modulus (%)</a:t>
            </a:r>
          </a:p>
          <a:p>
            <a:r>
              <a:rPr lang="en-IN" dirty="0"/>
              <a:t>Returns the remainder.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7F730B-4364-DF40-B945-F5926FBBA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77158"/>
            <a:ext cx="6572282" cy="211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099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007EA-2BBC-5812-12D7-ACE069D98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EFE3-5393-8ECB-5931-087346687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0569F-5626-3416-57D0-5F8B54CFC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Power (**) : Raises elements to a power.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802E90-716C-A98C-C0ED-E1A18860D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493" y="2634732"/>
            <a:ext cx="5159962" cy="340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915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DBAA2-42A0-452B-582F-8B7BF1419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6EC4A-CC58-DAC1-140C-CACBEBEA0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4E40B-2017-B8CC-1967-D8D01DFBF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Comparison Operations </a:t>
            </a:r>
          </a:p>
          <a:p>
            <a:r>
              <a:rPr lang="en-IN" dirty="0"/>
              <a:t>These return </a:t>
            </a:r>
            <a:r>
              <a:rPr lang="en-IN" b="1" dirty="0"/>
              <a:t>True</a:t>
            </a:r>
            <a:r>
              <a:rPr lang="en-IN" dirty="0"/>
              <a:t> or </a:t>
            </a:r>
            <a:r>
              <a:rPr lang="en-IN" b="1" dirty="0"/>
              <a:t>False</a:t>
            </a:r>
            <a:r>
              <a:rPr lang="en-IN" dirty="0"/>
              <a:t> for each element.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037DB-EB99-589A-9351-E0575ABE0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21" y="3052448"/>
            <a:ext cx="4046552" cy="22676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1282D1-B478-0DBC-CE34-80B8F667B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247" y="3052448"/>
            <a:ext cx="3525361" cy="339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901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BE68E-8DF5-925B-5439-2804A056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5CCF4-8D3E-094B-9168-CC2C1F9E7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78E8F-E12E-5C33-EDBA-B7BEE6BC4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Universal Mathematical Functions</a:t>
            </a:r>
          </a:p>
          <a:p>
            <a:r>
              <a:rPr lang="en-IN" dirty="0"/>
              <a:t>NumPy provides many built-in mathematical functions.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43B996-2D43-7F53-E1D8-CC3C5D346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52" y="3035827"/>
            <a:ext cx="3458707" cy="1775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8B6F1A-04F6-9373-1610-69EFED825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952" y="5139173"/>
            <a:ext cx="3458707" cy="15109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E2B6E2-6EC7-63DD-7A02-80CC15FF3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616" y="3035827"/>
            <a:ext cx="4812183" cy="15798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325463-9226-E47F-7438-80BF113A16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7616" y="5104100"/>
            <a:ext cx="4664358" cy="156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809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3CCD8-CDE7-3581-85E6-4640280DA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ADCAA-A2A7-DDD1-7979-BFEA25DE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Operations in NumPy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D2549-7388-3A55-E027-53637763B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72" y="1540165"/>
            <a:ext cx="4587638" cy="26138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9E0955-9A0E-5005-8010-6F6815799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716" y="1540164"/>
            <a:ext cx="4852212" cy="473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057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3FC67-0997-9594-36DA-0DD8FA2D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with a Scalar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F4BEF-DC33-82E4-28BF-F8E530F9F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scalar is a single number.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AB24F-0A91-C5C7-B13B-6F36CFE2E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5" y="2529160"/>
            <a:ext cx="5984271" cy="378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608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43E0A-544C-4D3E-83C9-1B644C3BF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Broadcasting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995DB-BB1B-B9AC-E3D2-F3FFF2EB9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NumPy automatically expands smaller arrays during operations when their shapes are compatible.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DD2D8F-6718-FF41-C047-CF99CCC3A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297" y="2997023"/>
            <a:ext cx="5906891" cy="283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12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6960B-9BAC-F6E9-608A-9BAA025BA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and 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96C5C-6146-EA95-CE54-A7ABEFDAF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topic includes functions used to perform mathematical calculations and statistical analysis on NumPy arrays.</a:t>
            </a:r>
          </a:p>
        </p:txBody>
      </p:sp>
    </p:spTree>
    <p:extLst>
      <p:ext uri="{BB962C8B-B14F-4D97-AF65-F5344CB8AC3E}">
        <p14:creationId xmlns:p14="http://schemas.microsoft.com/office/powerpoint/2010/main" val="14115661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118C6-D1DF-CAC7-6FCE-1C00758B3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24743-CA66-FB8D-E9DE-2223EADEE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and 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9625A-7333-8B87-F3D0-53AC2A433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Mathematical Functions</a:t>
            </a:r>
          </a:p>
          <a:p>
            <a:r>
              <a:rPr lang="en-IN" dirty="0"/>
              <a:t>NumPy provides various mathematical functions to perform calculations on array elements.</a:t>
            </a:r>
          </a:p>
        </p:txBody>
      </p:sp>
    </p:spTree>
    <p:extLst>
      <p:ext uri="{BB962C8B-B14F-4D97-AF65-F5344CB8AC3E}">
        <p14:creationId xmlns:p14="http://schemas.microsoft.com/office/powerpoint/2010/main" val="5700822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079E-CD82-917D-B67D-FA1450B3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F85A5-88C8-E75A-3AB4-90D4E6CC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and 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DD76-30C5-C6C5-9AEF-15041827D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a) </a:t>
            </a:r>
            <a:r>
              <a:rPr lang="en-IN" b="1" dirty="0" err="1"/>
              <a:t>np.sum</a:t>
            </a:r>
            <a:r>
              <a:rPr lang="en-IN" b="1" dirty="0"/>
              <a:t>()</a:t>
            </a:r>
          </a:p>
          <a:p>
            <a:r>
              <a:rPr lang="en-IN" dirty="0"/>
              <a:t>Returns the sum of all elements in an array.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204EDC-5150-A770-A96F-E649DF43E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301" y="3129343"/>
            <a:ext cx="7286923" cy="237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852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3095E-8884-09E2-390E-83B044B84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1280-EAD8-81D5-E625-DBB10A549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and 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4EF02-A4C9-6E98-CB86-F52DDDE93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b) </a:t>
            </a:r>
            <a:r>
              <a:rPr lang="en-IN" b="1" dirty="0" err="1"/>
              <a:t>np.min</a:t>
            </a:r>
            <a:r>
              <a:rPr lang="en-IN" b="1" dirty="0"/>
              <a:t>()</a:t>
            </a:r>
          </a:p>
          <a:p>
            <a:r>
              <a:rPr lang="en-IN" dirty="0"/>
              <a:t>Returns the minimum value from an array.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D31080-3B67-508B-6271-85E45E04C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933" y="3275506"/>
            <a:ext cx="6868692" cy="244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43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33ECA-8202-D954-F4F8-B15446971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2F9B3-456F-58DA-6093-3C788B02E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and 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ED0DD-D5EA-07C5-5DF4-937D09B13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c) </a:t>
            </a:r>
            <a:r>
              <a:rPr lang="en-IN" b="1" dirty="0" err="1"/>
              <a:t>np.max</a:t>
            </a:r>
            <a:r>
              <a:rPr lang="en-IN" b="1" dirty="0"/>
              <a:t>()</a:t>
            </a:r>
          </a:p>
          <a:p>
            <a:r>
              <a:rPr lang="en-IN" dirty="0"/>
              <a:t>Returns the maximum value from an array.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A8CC89-A168-FCAC-7852-DD76A0662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83" y="3135098"/>
            <a:ext cx="4492292" cy="304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361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66C05-44D5-D572-D7B4-8EDE74E14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D6DC4-DC50-12BF-EB36-9C4CA0F6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and 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F474A-98B7-D3EA-3617-A87717737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d) </a:t>
            </a:r>
            <a:r>
              <a:rPr lang="en-IN" b="1" dirty="0" err="1"/>
              <a:t>np.sqrt</a:t>
            </a:r>
            <a:r>
              <a:rPr lang="en-IN" b="1" dirty="0"/>
              <a:t>()</a:t>
            </a:r>
          </a:p>
          <a:p>
            <a:r>
              <a:rPr lang="en-IN" dirty="0"/>
              <a:t>Calculates the square root of each element.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AFDCF2-F6ED-D380-9120-C10C20EC9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40" y="3112713"/>
            <a:ext cx="6730893" cy="266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149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D24AD-F14B-77DB-DF3C-A99E23E40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D2B87-DF24-6B9F-100A-0B03F44B7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and 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4B687-C410-C7B2-2923-893F09AA2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e) </a:t>
            </a:r>
            <a:r>
              <a:rPr lang="en-IN" b="1" dirty="0" err="1"/>
              <a:t>np.exp</a:t>
            </a:r>
            <a:r>
              <a:rPr lang="en-IN" b="1" dirty="0"/>
              <a:t>()</a:t>
            </a:r>
          </a:p>
          <a:p>
            <a:r>
              <a:rPr lang="en-IN" dirty="0"/>
              <a:t>Calculates exponential value (</a:t>
            </a:r>
            <a:r>
              <a:rPr lang="en-IN" dirty="0" err="1"/>
              <a:t>eˣ</a:t>
            </a:r>
            <a:r>
              <a:rPr lang="en-IN" dirty="0"/>
              <a:t>) of each element.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8F1852-2D4E-4FA3-23A8-8BACD221B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197" y="3429000"/>
            <a:ext cx="6265558" cy="183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478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4DD97-6DFD-FEB9-B560-1AB9A6621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8709-7DBF-B4B9-FCA0-22324007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and 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9C5A0-09A7-C0C6-6105-AFC14A922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f) np.log()</a:t>
            </a:r>
          </a:p>
          <a:p>
            <a:r>
              <a:rPr lang="en-IN" dirty="0"/>
              <a:t>Calculates natural logarithm of each element.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F05B17-2B9C-DE9A-8289-F7DECB079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83" y="3348594"/>
            <a:ext cx="6820189" cy="208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946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808E-8CF0-D7D9-BD7B-98B2B28CA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DB68E-0114-22B1-C5D5-E4635CED5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Statistical functions are used to </a:t>
            </a:r>
            <a:r>
              <a:rPr lang="en-IN" dirty="0" err="1"/>
              <a:t>analyze</a:t>
            </a:r>
            <a:r>
              <a:rPr lang="en-IN" dirty="0"/>
              <a:t> data and find important values like average, spread, and range.</a:t>
            </a:r>
          </a:p>
        </p:txBody>
      </p:sp>
    </p:spTree>
    <p:extLst>
      <p:ext uri="{BB962C8B-B14F-4D97-AF65-F5344CB8AC3E}">
        <p14:creationId xmlns:p14="http://schemas.microsoft.com/office/powerpoint/2010/main" val="9218069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3884F-2ECB-C30B-1A24-4F2933C71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6640-C783-6455-ECC2-3CB65BDC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Functions in NumPy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D8B1F8-107D-00AB-C677-D8C2A1B112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a) </a:t>
                </a:r>
                <a:r>
                  <a:rPr lang="en-IN" b="1" dirty="0" err="1"/>
                  <a:t>np.mean</a:t>
                </a:r>
                <a:r>
                  <a:rPr lang="en-IN" b="1" dirty="0"/>
                  <a:t>()</a:t>
                </a:r>
              </a:p>
              <a:p>
                <a:r>
                  <a:rPr lang="en-IN" dirty="0"/>
                  <a:t>Calculates the arithmetic average of array elements. </a:t>
                </a:r>
              </a:p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𝑀𝑒𝑎𝑛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𝑆𝑢𝑚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𝑣𝑎𝑙𝑢𝑒𝑠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𝑣𝑎𝑙𝑢𝑒𝑠</m:t>
                        </m:r>
                      </m:den>
                    </m:f>
                  </m:oMath>
                </a14:m>
                <a:endParaRPr lang="en-IN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D8B1F8-107D-00AB-C677-D8C2A1B112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8A5B3F7-106E-AE99-645C-82CCE0A4B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701" y="3788123"/>
            <a:ext cx="5804101" cy="211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554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50DD6-75BA-F7C6-E76C-59CCE909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9E53-EC1F-8ACC-E990-AED875986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A968A-79D5-F337-F79A-290451D3D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b) </a:t>
            </a:r>
            <a:r>
              <a:rPr lang="en-IN" b="1" dirty="0" err="1"/>
              <a:t>np.median</a:t>
            </a:r>
            <a:r>
              <a:rPr lang="en-IN" b="1" dirty="0"/>
              <a:t>()</a:t>
            </a:r>
          </a:p>
          <a:p>
            <a:r>
              <a:rPr lang="en-IN" dirty="0"/>
              <a:t>Returns the middle value of sorted data. </a:t>
            </a:r>
          </a:p>
          <a:p>
            <a:r>
              <a:rPr lang="en-IN" dirty="0"/>
              <a:t>If the number of elements is even, it returns the average of two middle values.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78B393-8ACD-00AB-B420-CF258281D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77" y="4001294"/>
            <a:ext cx="6391409" cy="210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410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5FE8A-0D31-41CC-D60E-D241891AB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D270B-B206-7500-0B7A-997AC1A34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7FCB4-7FAE-754B-1C6C-6F4329761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c) </a:t>
            </a:r>
            <a:r>
              <a:rPr lang="en-IN" b="1" dirty="0" err="1"/>
              <a:t>np.std</a:t>
            </a:r>
            <a:r>
              <a:rPr lang="en-IN" b="1" dirty="0"/>
              <a:t>() (Standard Deviation)</a:t>
            </a:r>
          </a:p>
          <a:p>
            <a:r>
              <a:rPr lang="en-IN" dirty="0"/>
              <a:t>Measures how much data values are spread around the mean. </a:t>
            </a:r>
          </a:p>
          <a:p>
            <a:r>
              <a:rPr lang="en-IN" dirty="0"/>
              <a:t>A lower standard deviation means data values are closer to the mean.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711E84-9E09-B61E-CC9D-2D4656EA7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161" y="3759720"/>
            <a:ext cx="5643933" cy="220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5811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14C3C-15BF-AF6A-CCF1-50AA28A6C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298D-B67C-DF8E-D392-B895AE0E3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Functions in NumPy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BF0360-8D0D-6214-2A89-190D05B9CD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d) </a:t>
                </a:r>
                <a:r>
                  <a:rPr lang="en-IN" dirty="0" err="1"/>
                  <a:t>np.var</a:t>
                </a:r>
                <a:r>
                  <a:rPr lang="en-IN" dirty="0"/>
                  <a:t>() (Variance)</a:t>
                </a:r>
              </a:p>
              <a:p>
                <a:r>
                  <a:rPr lang="en-IN" dirty="0"/>
                  <a:t>Measures the average squared difference from the mean. </a:t>
                </a:r>
              </a:p>
              <a:p>
                <a:r>
                  <a:rPr lang="en-IN" dirty="0"/>
                  <a:t>Variance is the square of standard deviation. </a:t>
                </a:r>
              </a:p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𝑉𝑎𝑟𝑖𝑎𝑛𝑐𝑒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𝑆𝑡𝑎𝑛𝑑𝑎𝑟𝑑</m:t>
                            </m:r>
                            <m:r>
                              <m:rPr>
                                <m:nor/>
                              </m:rPr>
                              <a:rPr lang="en-IN" i="1"/>
                              <m:t> 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𝐷𝑒𝑣𝑖𝑎𝑡𝑖𝑜𝑛</m:t>
                            </m:r>
                          </m:e>
                        </m:d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BF0360-8D0D-6214-2A89-190D05B9CD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478F42B-5F22-6E0B-6024-3EFDDF441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06170"/>
            <a:ext cx="4721809" cy="188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7040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CDEB6-85ED-2E70-CEB6-6CB4C7708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70FD0-5344-0AC6-FCC9-60C292F0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E0E2E-A19E-CEE3-B30D-B2C06CD9F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e) </a:t>
            </a:r>
            <a:r>
              <a:rPr lang="en-IN" b="1" dirty="0" err="1"/>
              <a:t>np.min</a:t>
            </a:r>
            <a:r>
              <a:rPr lang="en-IN" b="1" dirty="0"/>
              <a:t>()</a:t>
            </a:r>
          </a:p>
          <a:p>
            <a:r>
              <a:rPr lang="en-IN" dirty="0"/>
              <a:t>Finds the smallest value in an array.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372AE-1F6F-6CC0-ED9F-44984EBC0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05" y="3106917"/>
            <a:ext cx="6012400" cy="252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462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C7C40-2B8E-9912-22DE-EEEC09A2B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35823-06A5-3942-8332-24B6605DD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1512A-A6E6-4C9F-0AAD-FCCAA0279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f) </a:t>
            </a:r>
            <a:r>
              <a:rPr lang="en-IN" b="1" dirty="0" err="1"/>
              <a:t>np.max</a:t>
            </a:r>
            <a:r>
              <a:rPr lang="en-IN" b="1" dirty="0"/>
              <a:t>()</a:t>
            </a:r>
          </a:p>
          <a:p>
            <a:r>
              <a:rPr lang="en-IN" dirty="0"/>
              <a:t>Finds the largest value in an array.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19B86-8ED4-29D5-A3E8-F99BFEAA4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908" y="3209701"/>
            <a:ext cx="5419808" cy="245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332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1CB7-ED6B-E7F0-23E8-0843504EF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C2F79-9CA6-A43B-51DA-712F090A2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3987-3867-CF4F-E177-C01E383A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g) </a:t>
            </a:r>
            <a:r>
              <a:rPr lang="en-IN" b="1" dirty="0" err="1"/>
              <a:t>np.sum</a:t>
            </a:r>
            <a:r>
              <a:rPr lang="en-IN" b="1" dirty="0"/>
              <a:t>()</a:t>
            </a:r>
          </a:p>
          <a:p>
            <a:r>
              <a:rPr lang="en-IN" dirty="0"/>
              <a:t>Adds all array elements.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E6289C-81DF-2C9F-BA66-C3443C883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96638"/>
            <a:ext cx="6042735" cy="264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457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FD336-D0F0-F007-4F76-82AE27650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77421-50A4-5C9A-6349-2DEB5A27D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477FB-398B-C7CA-03F8-674A29D01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h) </a:t>
            </a:r>
            <a:r>
              <a:rPr lang="en-IN" b="1" dirty="0" err="1"/>
              <a:t>np.percentile</a:t>
            </a:r>
            <a:r>
              <a:rPr lang="en-IN" b="1" dirty="0"/>
              <a:t>()</a:t>
            </a:r>
          </a:p>
          <a:p>
            <a:r>
              <a:rPr lang="en-IN" dirty="0"/>
              <a:t>Finds the value below which a given percentage of data falls.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1A2CA5-1965-974C-8DFF-ACB4AFACF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14" y="3161537"/>
            <a:ext cx="6058103" cy="238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3907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75FD3-080D-ED52-4FD3-58C7E30D7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096B-B767-9BDE-9BFC-D89F3014E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Functions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71187-0903-DDF1-16B6-08E67C2FD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i</a:t>
            </a:r>
            <a:r>
              <a:rPr lang="en-IN" b="1" dirty="0"/>
              <a:t>) </a:t>
            </a:r>
            <a:r>
              <a:rPr lang="en-IN" b="1" dirty="0" err="1"/>
              <a:t>np.cumsum</a:t>
            </a:r>
            <a:r>
              <a:rPr lang="en-IN" b="1" dirty="0"/>
              <a:t>() (Cumulative Sum)</a:t>
            </a:r>
          </a:p>
          <a:p>
            <a:r>
              <a:rPr lang="en-IN" dirty="0"/>
              <a:t>Returns the running sum of elements.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B97B8-46DF-49FC-8952-34C3FAAD8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72278"/>
            <a:ext cx="6593632" cy="290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885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4084-9E4A-4D7A-17D5-8C5E079F6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Module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E5AD1-CC6D-36A4-3391-FB18FDE3B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NumPy Random Module (</a:t>
            </a:r>
            <a:r>
              <a:rPr lang="en-IN" b="1" dirty="0" err="1"/>
              <a:t>np.random</a:t>
            </a:r>
            <a:r>
              <a:rPr lang="en-IN" b="1" dirty="0"/>
              <a:t>)</a:t>
            </a:r>
            <a:r>
              <a:rPr lang="en-IN" dirty="0"/>
              <a:t> is used to generate random numbers, random arrays, and random samples. It is widely used in </a:t>
            </a:r>
            <a:r>
              <a:rPr lang="en-IN" b="1" dirty="0"/>
              <a:t>data analysis, machine learning, simulations, and testing</a:t>
            </a:r>
            <a:r>
              <a:rPr lang="en-IN" dirty="0"/>
              <a:t>.</a:t>
            </a:r>
          </a:p>
          <a:p>
            <a:r>
              <a:rPr lang="en-IN" dirty="0"/>
              <a:t>Import NumPy before using the random module:</a:t>
            </a:r>
          </a:p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3120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6ED1C-84CE-1221-96C0-F45FA48F8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4BC54-6036-830C-74A5-AF75118D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Module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06A51-C5EF-51D1-8265-36DDE98D0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</a:t>
            </a:r>
            <a:r>
              <a:rPr lang="en-IN" b="1" dirty="0" err="1"/>
              <a:t>np.random.rand</a:t>
            </a:r>
            <a:r>
              <a:rPr lang="en-IN" b="1" dirty="0"/>
              <a:t>()</a:t>
            </a:r>
          </a:p>
          <a:p>
            <a:r>
              <a:rPr lang="en-IN" dirty="0"/>
              <a:t>Generates random floating-point numbers between </a:t>
            </a:r>
            <a:r>
              <a:rPr lang="en-IN" b="1" dirty="0"/>
              <a:t>0 and 1</a:t>
            </a:r>
            <a:r>
              <a:rPr lang="en-IN" dirty="0"/>
              <a:t>. </a:t>
            </a:r>
          </a:p>
          <a:p>
            <a:r>
              <a:rPr lang="en-IN" dirty="0"/>
              <a:t>You can specify the shape of the array.</a:t>
            </a:r>
          </a:p>
          <a:p>
            <a:r>
              <a:rPr lang="en-IN" b="1" dirty="0"/>
              <a:t>Syntax</a:t>
            </a:r>
          </a:p>
          <a:p>
            <a:r>
              <a:rPr lang="en-IN" dirty="0" err="1"/>
              <a:t>np.random.rand</a:t>
            </a:r>
            <a:r>
              <a:rPr lang="en-IN" dirty="0"/>
              <a:t>(d0, d1, ..., dn)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4976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04BBE-7D92-0395-6718-EEF3B77E4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0E127-0AEF-B912-3F0C-F7E9F2B85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Module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FB705-5C04-270A-E59E-5A58A0612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 1: Single Random Number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59656-39F4-3A55-CBBA-247A0C72F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63581"/>
            <a:ext cx="8125092" cy="269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6664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33F6D-CEF5-11EE-F604-A032D5472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FDEB5-BFAE-1C63-0BD8-524793FF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Module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A17FC-A241-6B13-48D4-B86A48A94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 2: 2×3 Random Array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40A7FB-1743-F714-19A8-28A3777FD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1658"/>
            <a:ext cx="7361624" cy="282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966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E5150-51FD-C1BA-37F0-834047C4B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259C-69D0-9A66-5344-24A12AF25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Module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FA77C-B721-C24C-7CED-0E4CD2B43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2. </a:t>
            </a:r>
            <a:r>
              <a:rPr lang="en-IN" b="1" dirty="0" err="1"/>
              <a:t>np.random.randint</a:t>
            </a:r>
            <a:r>
              <a:rPr lang="en-IN" b="1" dirty="0"/>
              <a:t>()</a:t>
            </a:r>
          </a:p>
          <a:p>
            <a:r>
              <a:rPr lang="en-IN" dirty="0"/>
              <a:t>Generates random integers within a specified range. </a:t>
            </a:r>
          </a:p>
          <a:p>
            <a:r>
              <a:rPr lang="en-IN" dirty="0"/>
              <a:t>The upper limit is </a:t>
            </a:r>
            <a:r>
              <a:rPr lang="en-IN" b="1" dirty="0"/>
              <a:t>not included</a:t>
            </a:r>
            <a:r>
              <a:rPr lang="en-IN" dirty="0"/>
              <a:t>.</a:t>
            </a:r>
          </a:p>
          <a:p>
            <a:r>
              <a:rPr lang="en-IN" b="1" dirty="0"/>
              <a:t>Syntax</a:t>
            </a:r>
          </a:p>
          <a:p>
            <a:r>
              <a:rPr lang="en-IN" dirty="0" err="1"/>
              <a:t>np.random.randint</a:t>
            </a:r>
            <a:r>
              <a:rPr lang="en-IN" dirty="0"/>
              <a:t>(low, high, size)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45673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CDED3-A851-C7F1-5E69-99982AA4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3C16C-F934-EE2F-0E60-127DA16DA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Module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E96EF-2FB9-73FF-5BC5-7EE9E63E5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5765CC-7C1C-39E9-A476-171AB3766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292" y="1514844"/>
            <a:ext cx="6741471" cy="518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128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077EB-3A55-0EA3-9A0D-5565DD588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C8BB4-7277-48EF-8A1F-5DA5CBA1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Module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D8677-8960-DA8A-24FF-171BF1C45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3. </a:t>
            </a:r>
            <a:r>
              <a:rPr lang="en-IN" b="1" dirty="0" err="1"/>
              <a:t>np.random.choice</a:t>
            </a:r>
            <a:r>
              <a:rPr lang="en-IN" b="1" dirty="0"/>
              <a:t>()</a:t>
            </a:r>
          </a:p>
          <a:p>
            <a:r>
              <a:rPr lang="en-IN" dirty="0"/>
              <a:t>Selects one or more random elements from an array or list. </a:t>
            </a:r>
          </a:p>
          <a:p>
            <a:r>
              <a:rPr lang="en-IN" dirty="0"/>
              <a:t>Elements can be selected with or without repetition. </a:t>
            </a:r>
          </a:p>
          <a:p>
            <a:r>
              <a:rPr lang="en-IN" b="1" dirty="0"/>
              <a:t>Syntax</a:t>
            </a:r>
          </a:p>
          <a:p>
            <a:r>
              <a:rPr lang="en-IN" dirty="0" err="1"/>
              <a:t>np.random.choice</a:t>
            </a:r>
            <a:r>
              <a:rPr lang="en-IN" dirty="0"/>
              <a:t>(array, size)</a:t>
            </a:r>
          </a:p>
        </p:txBody>
      </p:sp>
    </p:spTree>
    <p:extLst>
      <p:ext uri="{BB962C8B-B14F-4D97-AF65-F5344CB8AC3E}">
        <p14:creationId xmlns:p14="http://schemas.microsoft.com/office/powerpoint/2010/main" val="415394423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4FAA8-F0A6-5423-BB2B-1D9C4D49A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3DCEF-E767-8095-5341-F54A4F20E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Module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A0D2-89BC-7430-0D5E-79A293BFB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F26C19-2B6F-0ED9-9FEF-85184C4FF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845" y="1825625"/>
            <a:ext cx="5738238" cy="1912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F19F88-2047-91ED-B038-A1509670A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615" y="4001293"/>
            <a:ext cx="6885353" cy="21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3437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33A34-24B2-9BA7-52EE-BE5301D9B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47140-F56E-BBFD-765B-F0BEB0631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Module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5ECFE-D29E-CBB8-4E14-95749FA9B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4. </a:t>
            </a:r>
            <a:r>
              <a:rPr lang="en-IN" b="1" dirty="0" err="1"/>
              <a:t>np.random.seed</a:t>
            </a:r>
            <a:r>
              <a:rPr lang="en-IN" b="1" dirty="0"/>
              <a:t>()</a:t>
            </a:r>
          </a:p>
          <a:p>
            <a:r>
              <a:rPr lang="en-IN" dirty="0"/>
              <a:t>Sets the seed value. </a:t>
            </a:r>
          </a:p>
          <a:p>
            <a:r>
              <a:rPr lang="en-IN" dirty="0"/>
              <a:t>Using the same seed always produces the same random numbers. </a:t>
            </a:r>
          </a:p>
          <a:p>
            <a:r>
              <a:rPr lang="en-IN" dirty="0"/>
              <a:t>Useful for testing and reproducible results. </a:t>
            </a:r>
          </a:p>
          <a:p>
            <a:r>
              <a:rPr lang="en-IN" b="1" dirty="0"/>
              <a:t>Syntax</a:t>
            </a:r>
          </a:p>
          <a:p>
            <a:r>
              <a:rPr lang="en-IN" dirty="0" err="1"/>
              <a:t>np.random.seed</a:t>
            </a:r>
            <a:r>
              <a:rPr lang="en-IN" dirty="0"/>
              <a:t>(number)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5F0E-8A6C-2A32-33E9-0A1FA746A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011" y="3799784"/>
            <a:ext cx="5351215" cy="280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415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1954F-000D-9181-CECA-C1D4FCAD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9E94-D793-DB42-36B3-609673005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Module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5B304-F512-12A7-8066-482E98DA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5. </a:t>
            </a:r>
            <a:r>
              <a:rPr lang="en-IN" b="1" dirty="0" err="1"/>
              <a:t>np.random.shuffle</a:t>
            </a:r>
            <a:r>
              <a:rPr lang="en-IN" b="1" dirty="0"/>
              <a:t>()</a:t>
            </a:r>
          </a:p>
          <a:p>
            <a:r>
              <a:rPr lang="en-IN" dirty="0"/>
              <a:t>Randomly rearranges (shuffles) the elements of an array. </a:t>
            </a:r>
          </a:p>
          <a:p>
            <a:r>
              <a:rPr lang="en-IN" dirty="0"/>
              <a:t>It modifies the original array.</a:t>
            </a:r>
          </a:p>
          <a:p>
            <a:r>
              <a:rPr lang="en-IN" b="1" dirty="0"/>
              <a:t>Syntax</a:t>
            </a:r>
          </a:p>
          <a:p>
            <a:r>
              <a:rPr lang="en-IN" dirty="0" err="1"/>
              <a:t>np.random.shuffle</a:t>
            </a:r>
            <a:r>
              <a:rPr lang="en-IN" dirty="0"/>
              <a:t>(array)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9342A-4AEE-FDFC-C498-87AABFF15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262" y="3259230"/>
            <a:ext cx="5906078" cy="323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832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E871A-6428-B373-8DC3-C16D25219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05189-CB32-AF67-1325-1CE8AFCF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Module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800F1-0581-D46D-CF8B-4368D4441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6. </a:t>
            </a:r>
            <a:r>
              <a:rPr lang="en-IN" b="1" dirty="0" err="1"/>
              <a:t>np.random.normal</a:t>
            </a:r>
            <a:r>
              <a:rPr lang="en-IN" b="1" dirty="0"/>
              <a:t>()</a:t>
            </a:r>
          </a:p>
          <a:p>
            <a:r>
              <a:rPr lang="en-IN" dirty="0"/>
              <a:t>Generates random numbers following a </a:t>
            </a:r>
            <a:r>
              <a:rPr lang="en-IN" b="1" dirty="0"/>
              <a:t>Normal (Gaussian) Distribution</a:t>
            </a:r>
            <a:r>
              <a:rPr lang="en-IN" dirty="0"/>
              <a:t>. </a:t>
            </a:r>
          </a:p>
          <a:p>
            <a:r>
              <a:rPr lang="en-IN" dirty="0"/>
              <a:t>The normal distribution is also called the </a:t>
            </a:r>
            <a:r>
              <a:rPr lang="en-IN" b="1" dirty="0"/>
              <a:t>Bell Curve</a:t>
            </a:r>
            <a:r>
              <a:rPr lang="en-IN" dirty="0"/>
              <a:t>.</a:t>
            </a:r>
          </a:p>
          <a:p>
            <a:r>
              <a:rPr lang="en-IN" b="1" dirty="0"/>
              <a:t>Syntax</a:t>
            </a:r>
          </a:p>
          <a:p>
            <a:r>
              <a:rPr lang="en-IN" dirty="0" err="1"/>
              <a:t>np.random.normal</a:t>
            </a:r>
            <a:r>
              <a:rPr lang="en-IN" dirty="0"/>
              <a:t>(loc, scale, size)</a:t>
            </a:r>
          </a:p>
          <a:p>
            <a:r>
              <a:rPr lang="en-IN" b="1" dirty="0"/>
              <a:t>Parameters</a:t>
            </a:r>
          </a:p>
          <a:p>
            <a:r>
              <a:rPr lang="en-IN" b="1" dirty="0"/>
              <a:t>loc</a:t>
            </a:r>
            <a:r>
              <a:rPr lang="en-IN" dirty="0"/>
              <a:t> → Mean (default = 0) </a:t>
            </a:r>
          </a:p>
          <a:p>
            <a:r>
              <a:rPr lang="en-IN" b="1" dirty="0"/>
              <a:t>scale</a:t>
            </a:r>
            <a:r>
              <a:rPr lang="en-IN" dirty="0"/>
              <a:t> → Standard deviation (default = 1) </a:t>
            </a:r>
          </a:p>
          <a:p>
            <a:r>
              <a:rPr lang="en-IN" b="1" dirty="0"/>
              <a:t>size</a:t>
            </a:r>
            <a:r>
              <a:rPr lang="en-IN" dirty="0"/>
              <a:t> → Shape of output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8398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6A0B7-E7AB-E56D-769D-8586C643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05439-3898-B7F0-5DA7-AA3CBAB8F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Module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EEB06-FE70-92CF-000E-2D519568A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6. </a:t>
            </a:r>
            <a:r>
              <a:rPr lang="en-IN" b="1" dirty="0" err="1"/>
              <a:t>np.random.normal</a:t>
            </a:r>
            <a:r>
              <a:rPr lang="en-IN" b="1" dirty="0"/>
              <a:t>()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0FF771-BE57-2EBA-76F2-E2375EA22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5" y="2787258"/>
            <a:ext cx="9111663" cy="242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8133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1E1F-223F-2165-FF67-77A4CD763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Other Useful Random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86BC77-AC31-B284-72E4-64F140644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51" y="1690688"/>
            <a:ext cx="5182049" cy="1539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2C040B-DBA5-FDE7-1984-E528B9F23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51" y="3507568"/>
            <a:ext cx="8596105" cy="1318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C5A71D-A0F4-335E-7A6B-56196EB3C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951" y="5167312"/>
            <a:ext cx="5616427" cy="110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9896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802B9-90B4-4218-4682-327C92C46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Matrix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92D07-1658-B0BF-85E9-10103E610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matrix</a:t>
            </a:r>
            <a:r>
              <a:rPr lang="en-IN" dirty="0"/>
              <a:t> is a two-dimensional array consisting of rows and columns. NumPy provides many functions to perform mathematical operations on matrices.</a:t>
            </a:r>
          </a:p>
        </p:txBody>
      </p:sp>
    </p:spTree>
    <p:extLst>
      <p:ext uri="{BB962C8B-B14F-4D97-AF65-F5344CB8AC3E}">
        <p14:creationId xmlns:p14="http://schemas.microsoft.com/office/powerpoint/2010/main" val="266631210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92F35-D55A-7567-3B14-AEDDDB399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E938-68D5-7947-4D31-65462FB8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Matrix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B31C4-1B0B-3BA5-90FC-4A58C34F0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Creating a Matrix: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874188-65F7-F3C0-E176-5E8D9F8BB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333" y="2152539"/>
            <a:ext cx="5224599" cy="423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842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7F3EE-2842-A2D5-2C5C-F3F03D55C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E169B-CE20-CA54-27BA-39E9BD8C1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Matrix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A4CD6-DD2C-A37E-23A4-2BF785FF6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Matrix Addition</a:t>
            </a:r>
          </a:p>
          <a:p>
            <a:r>
              <a:rPr lang="en-IN" dirty="0"/>
              <a:t>Matrix addition is performed by adding corresponding elements of two matrices. </a:t>
            </a:r>
          </a:p>
          <a:p>
            <a:r>
              <a:rPr lang="en-IN" dirty="0"/>
              <a:t>Both matrices must have the same dimensions. </a:t>
            </a:r>
          </a:p>
          <a:p>
            <a:r>
              <a:rPr lang="en-IN" b="1" dirty="0"/>
              <a:t>Syntax:</a:t>
            </a:r>
          </a:p>
          <a:p>
            <a:r>
              <a:rPr lang="en-IN" dirty="0"/>
              <a:t>A + 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963415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CB7E3-8A3B-FFA5-8025-6D406651A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0478-9EFB-B584-36B0-A977DBFB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Matrix Operations in NumPy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C9B5C-45A6-CAFB-8E8D-B2B80E8E0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775" y="1690687"/>
            <a:ext cx="4372354" cy="39204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15858-2B4C-F43D-84E0-EF203914B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426" y="1690687"/>
            <a:ext cx="4372353" cy="429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7696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29B59-6C69-8CB5-1B38-94CB5EFB6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8D390-95AA-697E-7B55-82BF16C6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Matrix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F409B-D8AF-87FE-0D8F-4DA88EAD8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2. Matrix Subtraction</a:t>
            </a:r>
          </a:p>
          <a:p>
            <a:r>
              <a:rPr lang="en-IN" dirty="0"/>
              <a:t>Subtracts corresponding elements of two matrices. </a:t>
            </a:r>
          </a:p>
          <a:p>
            <a:r>
              <a:rPr lang="en-IN" b="1" dirty="0"/>
              <a:t>Syntax:</a:t>
            </a:r>
          </a:p>
          <a:p>
            <a:r>
              <a:rPr lang="en-IN" dirty="0"/>
              <a:t>A - 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B3432B-749E-8FBB-D5EF-6C3857B89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86" y="3466607"/>
            <a:ext cx="4351220" cy="271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65761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503C2-F444-BEA9-66B3-0BE9681B2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A61-0D1D-2E70-BC29-7CD008C82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Matrix Operations in NumPy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7A3820-AC4A-D234-1883-F6292FBDCD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3. Matrix Multiplication</a:t>
                </a:r>
              </a:p>
              <a:p>
                <a:r>
                  <a:rPr lang="en-IN" dirty="0"/>
                  <a:t>Matrix multiplication is different from normal multiplication.</a:t>
                </a:r>
              </a:p>
              <a:p>
                <a:r>
                  <a:rPr lang="en-IN" dirty="0"/>
                  <a:t>Rules:</a:t>
                </a:r>
              </a:p>
              <a:p>
                <a:r>
                  <a:rPr lang="en-IN" dirty="0"/>
                  <a:t>Number of columns in the first matrix must equal the number of rows in the second matrix. </a:t>
                </a:r>
              </a:p>
              <a:p>
                <a:r>
                  <a:rPr lang="en-IN" dirty="0"/>
                  <a:t>Example: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7A3820-AC4A-D234-1883-F6292FBDCD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5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16372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C73D9-043C-DB43-0CD4-41B4C9233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3C36-ADA6-46AA-BCF9-06D10EFD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Matrix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D06C7-3630-54CA-F6B2-0EC91F529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3. Matrix Multiplication</a:t>
            </a:r>
          </a:p>
          <a:p>
            <a:r>
              <a:rPr lang="en-IN" dirty="0"/>
              <a:t>Method 1: Using </a:t>
            </a:r>
            <a:r>
              <a:rPr lang="en-IN" dirty="0" err="1"/>
              <a:t>np.matmul</a:t>
            </a:r>
            <a:r>
              <a:rPr lang="en-IN" dirty="0"/>
              <a:t>()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92BE4F-245E-B78D-9B61-ACFEA4036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86" y="3106132"/>
            <a:ext cx="4332421" cy="2343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FD3A80-130E-0FF9-931F-826646ED0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82589"/>
            <a:ext cx="4805026" cy="421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23371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C716-C75D-021C-4EC8-EA7F935FE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241-7B94-1482-6CE1-177B1677F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Matrix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D4D46-4261-3123-EAFB-5D9BF5AC3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3. Matrix Multiplication</a:t>
            </a:r>
          </a:p>
          <a:p>
            <a:r>
              <a:rPr lang="en-IN" dirty="0"/>
              <a:t>Method 2: Using @ Operator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095A87-1733-D4AE-0604-8A79BECB4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08" y="3128643"/>
            <a:ext cx="3183703" cy="248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70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23671-293E-767C-029F-8FA91CD9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58BE-675D-2315-2E1B-009F6F0A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Matrix Operations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AF51A-E93D-DF41-18C4-820669F15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4. Transpose of Matrix</a:t>
            </a:r>
          </a:p>
          <a:p>
            <a:r>
              <a:rPr lang="en-IN" dirty="0"/>
              <a:t>Transpose converts rows into columns and columns into rows.</a:t>
            </a:r>
          </a:p>
          <a:p>
            <a:r>
              <a:rPr lang="en-IN" b="1" dirty="0"/>
              <a:t>Function:</a:t>
            </a:r>
          </a:p>
          <a:p>
            <a:r>
              <a:rPr lang="en-IN" dirty="0" err="1"/>
              <a:t>np.transpose</a:t>
            </a:r>
            <a:r>
              <a:rPr lang="en-IN" dirty="0"/>
              <a:t>()</a:t>
            </a:r>
          </a:p>
          <a:p>
            <a:r>
              <a:rPr lang="en-IN" dirty="0"/>
              <a:t>or</a:t>
            </a:r>
          </a:p>
          <a:p>
            <a:r>
              <a:rPr lang="en-IN" dirty="0" err="1"/>
              <a:t>matrix.T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2CC2F7-C7A7-A019-551D-394D42A14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394" y="3231492"/>
            <a:ext cx="4134314" cy="27871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3EAB51-D811-1D69-A6DB-61FCCE6DA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8196" y="3429000"/>
            <a:ext cx="2296550" cy="231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7500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69B6C-9F5E-D92C-F18E-5DB8A17B0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Programming Using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1A34A-C0FF-03E0-AD05-993CB0605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topic combines all the NumPy concepts you've learned.</a:t>
            </a:r>
          </a:p>
          <a:p>
            <a:r>
              <a:rPr lang="en-IN" dirty="0"/>
              <a:t>Program 1: Find Sum, Average, Maximum and Minimum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643C0-F8A9-D6C6-4F65-4C83E057A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664" y="3146586"/>
            <a:ext cx="5338699" cy="346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8804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974B7-693F-CF6C-411A-CF62ADCDC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6F8C7-4A85-ADE2-3882-4AFD3BC45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Programming Using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A9940-51AA-70D9-0DDD-BCC3D0CE7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Program 2: Find Even Numbers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F2F869-2970-D2D1-E92B-D92721511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036" y="2468797"/>
            <a:ext cx="7887212" cy="370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63481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B8DE9-DA8A-BCDB-1E1D-DC5DC81BE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17D7-9FE4-E171-9711-D7B4B2690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Programming Using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F8BCC-19B0-E3B4-6D89-A2DB12821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Program 3: Square Every Element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9CDA49-EE8A-49E0-3535-C14664DD8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910" y="2540780"/>
            <a:ext cx="6779363" cy="395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1641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2E6C5-F8A1-836B-0B87-E26DE5C7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DF384-CDAE-8F2F-2B93-18B35D164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Programming Using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99EBC-AE9F-5549-D106-2E992E628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Program 4: Reshape an Array</a:t>
            </a:r>
          </a:p>
          <a:p>
            <a:r>
              <a:rPr lang="en-IN" b="1" dirty="0"/>
              <a:t>Explanation</a:t>
            </a:r>
          </a:p>
          <a:p>
            <a:r>
              <a:rPr lang="en-IN" dirty="0"/>
              <a:t>reshape(3,4) converts a 1D array into a </a:t>
            </a:r>
            <a:r>
              <a:rPr lang="en-IN" b="1" dirty="0"/>
              <a:t>3×4 matrix</a:t>
            </a:r>
            <a:r>
              <a:rPr lang="en-IN" dirty="0"/>
              <a:t>. </a:t>
            </a:r>
          </a:p>
          <a:p>
            <a:r>
              <a:rPr lang="en-IN" dirty="0"/>
              <a:t>Total elements must remain the same. 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738C4F-683F-3B03-D876-CD8D4334D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825" y="3430298"/>
            <a:ext cx="3508829" cy="288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4671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1E8E5-6475-5B78-D86A-F6D26C8A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0409-95A1-91DB-42D9-FC833FD94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Programming Using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D4CA6-33CD-23BD-874F-A103A92F8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Program 5: Matrix Addition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90402-1AD2-45C0-4E4A-2CF43506A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68" y="2266849"/>
            <a:ext cx="57066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52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755B7-85D8-412B-2F60-BE982D4E9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0318-AAEB-ECED-B085-62D03D0D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Programming Using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8B656-42A7-630E-F165-FC0FFB484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Program 6: Matrix Multiplication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263798-5B20-C58D-FF59-AF0327471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161" y="2343055"/>
            <a:ext cx="5552684" cy="40473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A95BD6-8396-5DA3-A154-C56C12880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76190"/>
            <a:ext cx="3055885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3689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DA112-3B0A-99B4-4F07-7CB8C4C9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54C7-5AFF-327B-3DEE-3E39DF330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Programming Using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07C1D-2579-2238-8909-74062C190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Program 7: Transpose of Matrix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BCC64F-0A81-81EF-4C3E-4D5235685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609" y="2377349"/>
            <a:ext cx="6009265" cy="411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9462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0AB6B-871B-5C4F-4A63-62268ABC6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1B53F-B445-1E9D-BD5F-D83E31463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Programming Using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44539-A7AA-5643-86BE-9040E5AAE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Program 8: Random Integer Array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A1DF0C-124A-CA7F-74A5-10C4434C6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86566"/>
            <a:ext cx="7981098" cy="329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25359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59344-1A64-C1A1-BB13-EE8BE45AA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3802C-7520-0037-B6B7-DC49F010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Programming Using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2EB42-0495-7643-AAE9-BBE61CCAE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Program 9: Sorting an Array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D9058A-00F3-9079-29FD-4D058E914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74796"/>
            <a:ext cx="6993056" cy="337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5267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EC091-4D6D-98F7-644C-4126AB65C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D63A9-5009-E293-7EAD-8FAFCEE34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Programming Using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95F6-CD73-967C-9DF6-7C2415BD4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Program 10: Find Standard Deviation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1A626-2C02-17DB-6F85-985DBC68B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02158"/>
            <a:ext cx="7145956" cy="370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59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1923</Words>
  <Application>Microsoft Office PowerPoint</Application>
  <PresentationFormat>Widescreen</PresentationFormat>
  <Paragraphs>332</Paragraphs>
  <Slides>99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4" baseType="lpstr">
      <vt:lpstr>Arial</vt:lpstr>
      <vt:lpstr>Calibri</vt:lpstr>
      <vt:lpstr>Calibri Light</vt:lpstr>
      <vt:lpstr>Cambria Math</vt:lpstr>
      <vt:lpstr>Office Theme</vt:lpstr>
      <vt:lpstr>Introduction to NumPy</vt:lpstr>
      <vt:lpstr>What is NumPy?</vt:lpstr>
      <vt:lpstr>Why Do We Need NumPy?</vt:lpstr>
      <vt:lpstr>Applications of NumPy</vt:lpstr>
      <vt:lpstr>Features of NumPy</vt:lpstr>
      <vt:lpstr>Advantages of NumPy</vt:lpstr>
      <vt:lpstr>Installation </vt:lpstr>
      <vt:lpstr>Installation </vt:lpstr>
      <vt:lpstr>Installation </vt:lpstr>
      <vt:lpstr>Installation </vt:lpstr>
      <vt:lpstr>Checking NumPy Version</vt:lpstr>
      <vt:lpstr>Importing NumPy</vt:lpstr>
      <vt:lpstr>Creating NumPy Arrays</vt:lpstr>
      <vt:lpstr>Creating a One-Dimensional Array</vt:lpstr>
      <vt:lpstr>Creating a Two-Dimensional Array</vt:lpstr>
      <vt:lpstr>Creating Three-Dimensional Array</vt:lpstr>
      <vt:lpstr>Special Array Creation Functions</vt:lpstr>
      <vt:lpstr>Special Array Creation Functions</vt:lpstr>
      <vt:lpstr>Special Array Creation Functions</vt:lpstr>
      <vt:lpstr>Special Array Creation Functions</vt:lpstr>
      <vt:lpstr>Special Array Creation Functions</vt:lpstr>
      <vt:lpstr>Special Array Creation Functions</vt:lpstr>
      <vt:lpstr>Array Attributes</vt:lpstr>
      <vt:lpstr>ndim</vt:lpstr>
      <vt:lpstr>shape</vt:lpstr>
      <vt:lpstr>size</vt:lpstr>
      <vt:lpstr>dtype</vt:lpstr>
      <vt:lpstr>itemsize</vt:lpstr>
      <vt:lpstr>Array Indexing</vt:lpstr>
      <vt:lpstr>Array Indexing</vt:lpstr>
      <vt:lpstr>Array Indexing</vt:lpstr>
      <vt:lpstr>Array Slicing</vt:lpstr>
      <vt:lpstr>Array Slicing</vt:lpstr>
      <vt:lpstr>Array Slicing</vt:lpstr>
      <vt:lpstr>Array Slicing</vt:lpstr>
      <vt:lpstr>Array Slicing</vt:lpstr>
      <vt:lpstr>Array Operations in NumPy</vt:lpstr>
      <vt:lpstr>Array Operations in NumPy</vt:lpstr>
      <vt:lpstr>Array Operations in NumPy</vt:lpstr>
      <vt:lpstr>Array Operations in NumPy</vt:lpstr>
      <vt:lpstr>Array Operations in NumPy</vt:lpstr>
      <vt:lpstr>Array Operations in NumPy</vt:lpstr>
      <vt:lpstr>Array Operations in NumPy</vt:lpstr>
      <vt:lpstr>Array Operations in NumPy</vt:lpstr>
      <vt:lpstr>Array Operations in NumPy</vt:lpstr>
      <vt:lpstr>Array Operations in NumPy</vt:lpstr>
      <vt:lpstr>Array Operations in NumPy</vt:lpstr>
      <vt:lpstr>Operations with a Scalar</vt:lpstr>
      <vt:lpstr>Broadcasting</vt:lpstr>
      <vt:lpstr>Mathematical and Statistical Functions in NumPy</vt:lpstr>
      <vt:lpstr>Mathematical and Statistical Functions in NumPy</vt:lpstr>
      <vt:lpstr>Mathematical and Statistical Functions in NumPy</vt:lpstr>
      <vt:lpstr>Mathematical and Statistical Functions in NumPy</vt:lpstr>
      <vt:lpstr>Mathematical and Statistical Functions in NumPy</vt:lpstr>
      <vt:lpstr>Mathematical and Statistical Functions in NumPy</vt:lpstr>
      <vt:lpstr>Mathematical and Statistical Functions in NumPy</vt:lpstr>
      <vt:lpstr>Mathematical and Statistical Functions in NumPy</vt:lpstr>
      <vt:lpstr>Statistical Functions in NumPy</vt:lpstr>
      <vt:lpstr>Statistical Functions in NumPy</vt:lpstr>
      <vt:lpstr>Statistical Functions in NumPy</vt:lpstr>
      <vt:lpstr>Statistical Functions in NumPy</vt:lpstr>
      <vt:lpstr>Statistical Functions in NumPy</vt:lpstr>
      <vt:lpstr>Statistical Functions in NumPy</vt:lpstr>
      <vt:lpstr>Statistical Functions in NumPy</vt:lpstr>
      <vt:lpstr>Statistical Functions in NumPy</vt:lpstr>
      <vt:lpstr>Statistical Functions in NumPy</vt:lpstr>
      <vt:lpstr>Statistical Functions in NumPy</vt:lpstr>
      <vt:lpstr>Random Module in NumPy</vt:lpstr>
      <vt:lpstr>Random Module in NumPy</vt:lpstr>
      <vt:lpstr>Random Module in NumPy</vt:lpstr>
      <vt:lpstr>Random Module in NumPy</vt:lpstr>
      <vt:lpstr>Random Module in NumPy</vt:lpstr>
      <vt:lpstr>Random Module in NumPy</vt:lpstr>
      <vt:lpstr>Random Module in NumPy</vt:lpstr>
      <vt:lpstr>Random Module in NumPy</vt:lpstr>
      <vt:lpstr>Random Module in NumPy</vt:lpstr>
      <vt:lpstr>Random Module in NumPy</vt:lpstr>
      <vt:lpstr>Random Module in NumPy</vt:lpstr>
      <vt:lpstr>Random Module in NumPy</vt:lpstr>
      <vt:lpstr>Other Useful Random Functions</vt:lpstr>
      <vt:lpstr>Matrix Operations in NumPy</vt:lpstr>
      <vt:lpstr>Matrix Operations in NumPy</vt:lpstr>
      <vt:lpstr>Matrix Operations in NumPy</vt:lpstr>
      <vt:lpstr>Matrix Operations in NumPy</vt:lpstr>
      <vt:lpstr>Matrix Operations in NumPy</vt:lpstr>
      <vt:lpstr>Matrix Operations in NumPy</vt:lpstr>
      <vt:lpstr>Matrix Operations in NumPy</vt:lpstr>
      <vt:lpstr>Matrix Operations in NumPy</vt:lpstr>
      <vt:lpstr>Matrix Operations in NumPy</vt:lpstr>
      <vt:lpstr>Programming Using NumPy Arrays</vt:lpstr>
      <vt:lpstr>Programming Using NumPy Arrays</vt:lpstr>
      <vt:lpstr>Programming Using NumPy Arrays</vt:lpstr>
      <vt:lpstr>Programming Using NumPy Arrays</vt:lpstr>
      <vt:lpstr>Programming Using NumPy Arrays</vt:lpstr>
      <vt:lpstr>Programming Using NumPy Arrays</vt:lpstr>
      <vt:lpstr>Programming Using NumPy Arrays</vt:lpstr>
      <vt:lpstr>Programming Using NumPy Arrays</vt:lpstr>
      <vt:lpstr>Programming Using NumPy Arrays</vt:lpstr>
      <vt:lpstr>Programming Using NumPy Arrays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Krishnaba Solanki</dc:creator>
  <cp:lastModifiedBy>Krishnaba Solanki</cp:lastModifiedBy>
  <cp:revision>256</cp:revision>
  <dcterms:created xsi:type="dcterms:W3CDTF">2026-07-01T14:21:13Z</dcterms:created>
  <dcterms:modified xsi:type="dcterms:W3CDTF">2026-07-21T04:07:38Z</dcterms:modified>
</cp:coreProperties>
</file>